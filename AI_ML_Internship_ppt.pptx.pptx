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2" Target="../media/image7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2" Target="../media/image18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16" Target="../media/image63.jpeg" Type="http://schemas.openxmlformats.org/officeDocument/2006/relationships/image"/><Relationship Id="rId17" Target="../media/image64.png" Type="http://schemas.openxmlformats.org/officeDocument/2006/relationships/image"/><Relationship Id="rId18" Target="../media/image65.png" Type="http://schemas.openxmlformats.org/officeDocument/2006/relationships/image"/><Relationship Id="rId19" Target="../media/image66.png" Type="http://schemas.openxmlformats.org/officeDocument/2006/relationships/image"/><Relationship Id="rId2" Target="../media/image7.png" Type="http://schemas.openxmlformats.org/officeDocument/2006/relationships/image"/><Relationship Id="rId20" Target="../media/image67.png" Type="http://schemas.openxmlformats.org/officeDocument/2006/relationships/image"/><Relationship Id="rId21" Target="../media/image68.png" Type="http://schemas.openxmlformats.org/officeDocument/2006/relationships/image"/><Relationship Id="rId22" Target="../media/image69.png" Type="http://schemas.openxmlformats.org/officeDocument/2006/relationships/image"/><Relationship Id="rId23" Target="../media/image70.png" Type="http://schemas.openxmlformats.org/officeDocument/2006/relationships/image"/><Relationship Id="rId24" Target="../media/image71.png" Type="http://schemas.openxmlformats.org/officeDocument/2006/relationships/image"/><Relationship Id="rId25" Target="../media/image72.png" Type="http://schemas.openxmlformats.org/officeDocument/2006/relationships/image"/><Relationship Id="rId26" Target="../media/image73.png" Type="http://schemas.openxmlformats.org/officeDocument/2006/relationships/image"/><Relationship Id="rId27" Target="../media/image74.png" Type="http://schemas.openxmlformats.org/officeDocument/2006/relationships/image"/><Relationship Id="rId28" Target="../media/image75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14" Target="../media/image87.png" Type="http://schemas.openxmlformats.org/officeDocument/2006/relationships/image"/><Relationship Id="rId15" Target="../media/image63.jpeg" Type="http://schemas.openxmlformats.org/officeDocument/2006/relationships/image"/><Relationship Id="rId16" Target="../media/image88.png" Type="http://schemas.openxmlformats.org/officeDocument/2006/relationships/image"/><Relationship Id="rId17" Target="../media/image89.png" Type="http://schemas.openxmlformats.org/officeDocument/2006/relationships/image"/><Relationship Id="rId18" Target="../media/image90.png" Type="http://schemas.openxmlformats.org/officeDocument/2006/relationships/image"/><Relationship Id="rId19" Target="../media/image91.png" Type="http://schemas.openxmlformats.org/officeDocument/2006/relationships/image"/><Relationship Id="rId2" Target="../media/image18.png" Type="http://schemas.openxmlformats.org/officeDocument/2006/relationships/image"/><Relationship Id="rId20" Target="../media/image92.png" Type="http://schemas.openxmlformats.org/officeDocument/2006/relationships/image"/><Relationship Id="rId21" Target="../media/image93.png" Type="http://schemas.openxmlformats.org/officeDocument/2006/relationships/image"/><Relationship Id="rId22" Target="../media/image94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png" Type="http://schemas.openxmlformats.org/officeDocument/2006/relationships/image"/><Relationship Id="rId12" Target="../media/image104.png" Type="http://schemas.openxmlformats.org/officeDocument/2006/relationships/image"/><Relationship Id="rId13" Target="../media/image105.png" Type="http://schemas.openxmlformats.org/officeDocument/2006/relationships/image"/><Relationship Id="rId14" Target="../media/image106.png" Type="http://schemas.openxmlformats.org/officeDocument/2006/relationships/image"/><Relationship Id="rId15" Target="../media/image107.png" Type="http://schemas.openxmlformats.org/officeDocument/2006/relationships/image"/><Relationship Id="rId16" Target="../media/image108.png" Type="http://schemas.openxmlformats.org/officeDocument/2006/relationships/image"/><Relationship Id="rId17" Target="../media/image109.png" Type="http://schemas.openxmlformats.org/officeDocument/2006/relationships/image"/><Relationship Id="rId18" Target="../media/image110.png" Type="http://schemas.openxmlformats.org/officeDocument/2006/relationships/image"/><Relationship Id="rId19" Target="../media/image111.png" Type="http://schemas.openxmlformats.org/officeDocument/2006/relationships/image"/><Relationship Id="rId2" Target="../media/image7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13" Target="../media/image121.png" Type="http://schemas.openxmlformats.org/officeDocument/2006/relationships/image"/><Relationship Id="rId14" Target="../media/image122.png" Type="http://schemas.openxmlformats.org/officeDocument/2006/relationships/image"/><Relationship Id="rId2" Target="../media/image18.png" Type="http://schemas.openxmlformats.org/officeDocument/2006/relationships/image"/><Relationship Id="rId3" Target="../media/image112.png" Type="http://schemas.openxmlformats.org/officeDocument/2006/relationships/image"/><Relationship Id="rId4" Target="../media/image113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23.png" Type="http://schemas.openxmlformats.org/officeDocument/2006/relationships/image"/><Relationship Id="rId4" Target="../media/image124.png" Type="http://schemas.openxmlformats.org/officeDocument/2006/relationships/image"/><Relationship Id="rId5" Target="../media/image125.png" Type="http://schemas.openxmlformats.org/officeDocument/2006/relationships/image"/><Relationship Id="rId6" Target="../media/image126.png" Type="http://schemas.openxmlformats.org/officeDocument/2006/relationships/image"/><Relationship Id="rId7" Target="../media/image1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29850" y="1571625"/>
            <a:ext cx="7143750" cy="7143750"/>
            <a:chOff x="0" y="0"/>
            <a:chExt cx="9525000" cy="9525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525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688" y="7872412"/>
            <a:ext cx="16430625" cy="1557338"/>
            <a:chOff x="0" y="0"/>
            <a:chExt cx="21907500" cy="2076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907500" cy="2076450"/>
            </a:xfrm>
            <a:custGeom>
              <a:avLst/>
              <a:gdLst/>
              <a:ahLst/>
              <a:cxnLst/>
              <a:rect r="r" b="b" t="t" l="l"/>
              <a:pathLst>
                <a:path h="2076450" w="21907500">
                  <a:moveTo>
                    <a:pt x="0" y="0"/>
                  </a:moveTo>
                  <a:lnTo>
                    <a:pt x="21907500" y="0"/>
                  </a:lnTo>
                  <a:lnTo>
                    <a:pt x="2190750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8" y="857250"/>
            <a:ext cx="4657725" cy="485775"/>
            <a:chOff x="0" y="0"/>
            <a:chExt cx="6210300" cy="6477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210300" cy="647700"/>
            </a:xfrm>
            <a:custGeom>
              <a:avLst/>
              <a:gdLst/>
              <a:ahLst/>
              <a:cxnLst/>
              <a:rect r="r" b="b" t="t" l="l"/>
              <a:pathLst>
                <a:path h="647700" w="6210300">
                  <a:moveTo>
                    <a:pt x="0" y="0"/>
                  </a:moveTo>
                  <a:lnTo>
                    <a:pt x="6210300" y="0"/>
                  </a:lnTo>
                  <a:lnTo>
                    <a:pt x="62103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50" r="0" b="-275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15962" y="8243888"/>
            <a:ext cx="3943350" cy="1185862"/>
            <a:chOff x="0" y="0"/>
            <a:chExt cx="5257800" cy="1581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2578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1581150"/>
                  </a:lnTo>
                  <a:lnTo>
                    <a:pt x="0" y="158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28688" y="1619250"/>
            <a:ext cx="17252156" cy="171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5"/>
              </a:lnSpc>
            </a:pPr>
            <a:r>
              <a:rPr lang="en-US" sz="58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&amp;</a:t>
            </a:r>
          </a:p>
          <a:p>
            <a:pPr algn="l">
              <a:lnSpc>
                <a:spcPts val="6725"/>
              </a:lnSpc>
            </a:pPr>
            <a:r>
              <a:rPr lang="en-US" sz="58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Machine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688" y="3499399"/>
            <a:ext cx="16430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Twitter Sentiment Analysis Using Logistic Regression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0150" y="1007269"/>
            <a:ext cx="242888" cy="185738"/>
            <a:chOff x="0" y="0"/>
            <a:chExt cx="323850" cy="2476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23850" cy="247650"/>
            </a:xfrm>
            <a:custGeom>
              <a:avLst/>
              <a:gdLst/>
              <a:ahLst/>
              <a:cxnLst/>
              <a:rect r="r" b="b" t="t" l="l"/>
              <a:pathLst>
                <a:path h="2476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846" r="0" b="-384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8688" y="8424862"/>
            <a:ext cx="5460682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Shubham Mishra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688" y="8848725"/>
            <a:ext cx="52006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B.Tech – Computer Science &amp;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8688" y="9163050"/>
            <a:ext cx="52006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IILM University, Greater Noida, U.P. | Session 2025–2029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6000" y="8410575"/>
            <a:ext cx="3343275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7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Internship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16000" y="8734425"/>
            <a:ext cx="33432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Codec Technologies Pvt. Ltd.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6000" y="9005887"/>
            <a:ext cx="33432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17 July 2026 – 31 August 2026 | 45 Days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3" y="639832"/>
            <a:ext cx="3468934" cy="469228"/>
            <a:chOff x="0" y="0"/>
            <a:chExt cx="394335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943350" cy="533400"/>
            </a:xfrm>
            <a:custGeom>
              <a:avLst/>
              <a:gdLst/>
              <a:ahLst/>
              <a:cxnLst/>
              <a:rect r="r" b="b" t="t" l="l"/>
              <a:pathLst>
                <a:path h="533400" w="3943350">
                  <a:moveTo>
                    <a:pt x="0" y="0"/>
                  </a:moveTo>
                  <a:lnTo>
                    <a:pt x="3943350" y="0"/>
                  </a:lnTo>
                  <a:lnTo>
                    <a:pt x="39433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76" r="0" b="-307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125932"/>
            <a:ext cx="4857750" cy="7518130"/>
            <a:chOff x="0" y="0"/>
            <a:chExt cx="6477000" cy="1002417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477000" cy="10024110"/>
            </a:xfrm>
            <a:custGeom>
              <a:avLst/>
              <a:gdLst/>
              <a:ahLst/>
              <a:cxnLst/>
              <a:rect r="r" b="b" t="t" l="l"/>
              <a:pathLst>
                <a:path h="1002411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0024110"/>
                  </a:lnTo>
                  <a:lnTo>
                    <a:pt x="0" y="1002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72188" y="2125932"/>
            <a:ext cx="5586412" cy="2334444"/>
            <a:chOff x="0" y="0"/>
            <a:chExt cx="7448550" cy="311259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448550" cy="3112643"/>
            </a:xfrm>
            <a:custGeom>
              <a:avLst/>
              <a:gdLst/>
              <a:ahLst/>
              <a:cxnLst/>
              <a:rect r="r" b="b" t="t" l="l"/>
              <a:pathLst>
                <a:path h="3112643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643"/>
                  </a:lnTo>
                  <a:lnTo>
                    <a:pt x="0" y="3112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92" r="0" b="-4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15775" y="2125932"/>
            <a:ext cx="5586412" cy="2334444"/>
            <a:chOff x="0" y="0"/>
            <a:chExt cx="7448550" cy="3112592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448550" cy="3112643"/>
            </a:xfrm>
            <a:custGeom>
              <a:avLst/>
              <a:gdLst/>
              <a:ahLst/>
              <a:cxnLst/>
              <a:rect r="r" b="b" t="t" l="l"/>
              <a:pathLst>
                <a:path h="3112643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643"/>
                  </a:lnTo>
                  <a:lnTo>
                    <a:pt x="0" y="3112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2" r="0" b="-49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72188" y="4717552"/>
            <a:ext cx="5586412" cy="2334663"/>
            <a:chOff x="0" y="0"/>
            <a:chExt cx="7448550" cy="31128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448550" cy="3112897"/>
            </a:xfrm>
            <a:custGeom>
              <a:avLst/>
              <a:gdLst/>
              <a:ahLst/>
              <a:cxnLst/>
              <a:rect r="r" b="b" t="t" l="l"/>
              <a:pathLst>
                <a:path h="3112897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897"/>
                  </a:lnTo>
                  <a:lnTo>
                    <a:pt x="0" y="3112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1" r="0" b="-18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15775" y="4717552"/>
            <a:ext cx="5586412" cy="2334663"/>
            <a:chOff x="0" y="0"/>
            <a:chExt cx="7448550" cy="311288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448550" cy="3112897"/>
            </a:xfrm>
            <a:custGeom>
              <a:avLst/>
              <a:gdLst/>
              <a:ahLst/>
              <a:cxnLst/>
              <a:rect r="r" b="b" t="t" l="l"/>
              <a:pathLst>
                <a:path h="3112897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3112897"/>
                  </a:lnTo>
                  <a:lnTo>
                    <a:pt x="0" y="3112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81" r="0" b="-18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072188" y="7309399"/>
            <a:ext cx="11430000" cy="2334663"/>
            <a:chOff x="0" y="0"/>
            <a:chExt cx="15240000" cy="3112884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5240000" cy="3112897"/>
            </a:xfrm>
            <a:custGeom>
              <a:avLst/>
              <a:gdLst/>
              <a:ahLst/>
              <a:cxnLst/>
              <a:rect r="r" b="b" t="t" l="l"/>
              <a:pathLst>
                <a:path h="3112897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3112897"/>
                  </a:lnTo>
                  <a:lnTo>
                    <a:pt x="0" y="3112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1" r="0" b="-18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7772" y="1342558"/>
            <a:ext cx="3518672" cy="53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336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Candidate Profile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5838" y="750094"/>
            <a:ext cx="178594" cy="185738"/>
            <a:chOff x="0" y="0"/>
            <a:chExt cx="238125" cy="2476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38125" cy="247650"/>
            </a:xfrm>
            <a:custGeom>
              <a:avLst/>
              <a:gdLst/>
              <a:ahLst/>
              <a:cxnLst/>
              <a:rect r="r" b="b" t="t" l="l"/>
              <a:pathLst>
                <a:path h="247650" w="238125">
                  <a:moveTo>
                    <a:pt x="0" y="0"/>
                  </a:moveTo>
                  <a:lnTo>
                    <a:pt x="238125" y="0"/>
                  </a:lnTo>
                  <a:lnTo>
                    <a:pt x="2381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74" r="0" b="-177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571750" y="4484713"/>
            <a:ext cx="1285875" cy="1285875"/>
            <a:chOff x="0" y="0"/>
            <a:chExt cx="1714500" cy="17145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7145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55" r="0" b="-55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34477" y="6037288"/>
            <a:ext cx="33604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Shubham Mishra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438" y="6637363"/>
            <a:ext cx="40005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B.Tech – Computer Science &amp; Engineering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871788" y="4856188"/>
            <a:ext cx="685800" cy="542925"/>
            <a:chOff x="0" y="0"/>
            <a:chExt cx="914400" cy="7239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914400" cy="723900"/>
            </a:xfrm>
            <a:custGeom>
              <a:avLst/>
              <a:gdLst/>
              <a:ahLst/>
              <a:cxnLst/>
              <a:rect r="r" b="b" t="t" l="l"/>
              <a:pathLst>
                <a:path h="7239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315" r="0" b="-1315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443662" y="2973953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PROGRAMME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43662" y="3273990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B.Tech Computer Science &amp; Engineering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87250" y="2973953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INSTITUTE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87250" y="3273990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IILM University, Greater Noida, U.P.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43662" y="5565800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SESSION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43662" y="5865838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2025–2029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87250" y="5565800"/>
            <a:ext cx="4886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INTERNSHIP DOMAIN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87250" y="5865838"/>
            <a:ext cx="488632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&amp; Machine Learning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43662" y="8157639"/>
            <a:ext cx="107299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DURATION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43662" y="8457676"/>
            <a:ext cx="1072991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45 Days | 17 July – 31 August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474546"/>
            <a:ext cx="4720093" cy="568441"/>
            <a:chOff x="0" y="0"/>
            <a:chExt cx="4429125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429125" cy="533400"/>
            </a:xfrm>
            <a:custGeom>
              <a:avLst/>
              <a:gdLst/>
              <a:ahLst/>
              <a:cxnLst/>
              <a:rect r="r" b="b" t="t" l="l"/>
              <a:pathLst>
                <a:path h="533400" w="4429125">
                  <a:moveTo>
                    <a:pt x="0" y="0"/>
                  </a:moveTo>
                  <a:lnTo>
                    <a:pt x="4429125" y="0"/>
                  </a:lnTo>
                  <a:lnTo>
                    <a:pt x="442912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26" r="0" b="-33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125932"/>
            <a:ext cx="16716375" cy="7518130"/>
            <a:chOff x="0" y="0"/>
            <a:chExt cx="22288500" cy="1002417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88500" cy="10024110"/>
            </a:xfrm>
            <a:custGeom>
              <a:avLst/>
              <a:gdLst/>
              <a:ahLst/>
              <a:cxnLst/>
              <a:rect r="r" b="b" t="t" l="l"/>
              <a:pathLst>
                <a:path h="1002411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0024110"/>
                  </a:lnTo>
                  <a:lnTo>
                    <a:pt x="0" y="1002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812" y="5427907"/>
            <a:ext cx="5333924" cy="2939653"/>
            <a:chOff x="0" y="0"/>
            <a:chExt cx="7111898" cy="391953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11873" cy="3919474"/>
            </a:xfrm>
            <a:custGeom>
              <a:avLst/>
              <a:gdLst/>
              <a:ahLst/>
              <a:cxnLst/>
              <a:rect r="r" b="b" t="t" l="l"/>
              <a:pathLst>
                <a:path h="3919474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3919474"/>
                  </a:lnTo>
                  <a:lnTo>
                    <a:pt x="0" y="391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3" r="0" b="-21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76924" y="5427907"/>
            <a:ext cx="5333924" cy="2939653"/>
            <a:chOff x="0" y="0"/>
            <a:chExt cx="7111898" cy="391953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11873" cy="3919474"/>
            </a:xfrm>
            <a:custGeom>
              <a:avLst/>
              <a:gdLst/>
              <a:ahLst/>
              <a:cxnLst/>
              <a:rect r="r" b="b" t="t" l="l"/>
              <a:pathLst>
                <a:path h="3919474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3919474"/>
                  </a:lnTo>
                  <a:lnTo>
                    <a:pt x="0" y="391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3" r="0" b="-21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68035" y="5427907"/>
            <a:ext cx="5334152" cy="2939653"/>
            <a:chOff x="0" y="0"/>
            <a:chExt cx="7112203" cy="3919538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12254" cy="3919474"/>
            </a:xfrm>
            <a:custGeom>
              <a:avLst/>
              <a:gdLst/>
              <a:ahLst/>
              <a:cxnLst/>
              <a:rect r="r" b="b" t="t" l="l"/>
              <a:pathLst>
                <a:path h="3919474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3919474"/>
                  </a:lnTo>
                  <a:lnTo>
                    <a:pt x="0" y="391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15" r="0" b="-21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Codec Technologies &amp; AI Internship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051" r="0" b="-205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57288" y="5789857"/>
            <a:ext cx="4590974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CARD 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7288" y="6080369"/>
            <a:ext cx="482052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7288" y="6561382"/>
            <a:ext cx="4590974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Foundation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7288" y="6956974"/>
            <a:ext cx="4590974" cy="99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AI, Machine Learning, supervised learning, classification, and the overall machine learning workflow.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48399" y="5832719"/>
            <a:ext cx="4590974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CARD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48399" y="6123232"/>
            <a:ext cx="4820526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Practical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8399" y="6604244"/>
            <a:ext cx="4590974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Twitter Sentiment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8399" y="6999837"/>
            <a:ext cx="4590974" cy="99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Applying NLP and machine learning techniques to classify tweets into positive and negative sentiment categories.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9510" y="5789857"/>
            <a:ext cx="459120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CARD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9510" y="6080369"/>
            <a:ext cx="4820755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Industry Exposure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39510" y="6561382"/>
            <a:ext cx="4591202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Practical Workflow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39510" y="6956974"/>
            <a:ext cx="4591202" cy="99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Working through data acquisition, preprocessing, feature extraction, model development, evaluation, prediction, and model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3" y="494308"/>
            <a:ext cx="4232672" cy="548680"/>
            <a:chOff x="0" y="0"/>
            <a:chExt cx="411480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1148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64" r="0" b="-34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125932"/>
            <a:ext cx="16716375" cy="7518130"/>
            <a:chOff x="0" y="0"/>
            <a:chExt cx="22288500" cy="1002417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88500" cy="10024110"/>
            </a:xfrm>
            <a:custGeom>
              <a:avLst/>
              <a:gdLst/>
              <a:ahLst/>
              <a:cxnLst/>
              <a:rect r="r" b="b" t="t" l="l"/>
              <a:pathLst>
                <a:path h="1002411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0024110"/>
                  </a:lnTo>
                  <a:lnTo>
                    <a:pt x="0" y="1002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812" y="7376370"/>
            <a:ext cx="16716375" cy="1057275"/>
            <a:chOff x="0" y="0"/>
            <a:chExt cx="22288500" cy="14097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2885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409700"/>
                  </a:lnTo>
                  <a:lnTo>
                    <a:pt x="0" y="140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5" r="0" b="-67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5504707"/>
            <a:ext cx="4018359" cy="1585912"/>
            <a:chOff x="0" y="0"/>
            <a:chExt cx="5357812" cy="2114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6" r="-1" b="-31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018484" y="5504707"/>
            <a:ext cx="4018359" cy="1585912"/>
            <a:chOff x="0" y="0"/>
            <a:chExt cx="5357812" cy="21145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6" r="-1" b="-31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51156" y="5504707"/>
            <a:ext cx="4018359" cy="1585912"/>
            <a:chOff x="0" y="0"/>
            <a:chExt cx="5357812" cy="21145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6" r="-1" b="-31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83828" y="5504707"/>
            <a:ext cx="4018359" cy="1585912"/>
            <a:chOff x="0" y="0"/>
            <a:chExt cx="5357812" cy="21145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57749" cy="2114550"/>
            </a:xfrm>
            <a:custGeom>
              <a:avLst/>
              <a:gdLst/>
              <a:ahLst/>
              <a:cxnLst/>
              <a:rect r="r" b="b" t="t" l="l"/>
              <a:pathLst>
                <a:path h="2114550" w="5357749">
                  <a:moveTo>
                    <a:pt x="0" y="0"/>
                  </a:moveTo>
                  <a:lnTo>
                    <a:pt x="5357749" y="0"/>
                  </a:lnTo>
                  <a:lnTo>
                    <a:pt x="5357749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6" r="-1" b="-31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37812" y="5804745"/>
            <a:ext cx="514350" cy="514350"/>
            <a:chOff x="0" y="0"/>
            <a:chExt cx="685800" cy="685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70484" y="5804745"/>
            <a:ext cx="514350" cy="514350"/>
            <a:chOff x="0" y="0"/>
            <a:chExt cx="6858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003156" y="5804745"/>
            <a:ext cx="514350" cy="514350"/>
            <a:chOff x="0" y="0"/>
            <a:chExt cx="6858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235828" y="5804745"/>
            <a:ext cx="514350" cy="514350"/>
            <a:chOff x="0" y="0"/>
            <a:chExt cx="68580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Bridging AI Theory and Practical NLP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051" r="0" b="-205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25382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Collect Data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8054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Preprocess Text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90726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Train 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23398" y="6471495"/>
            <a:ext cx="373922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Predict Sentiment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3" y="547185"/>
            <a:ext cx="3833616" cy="495803"/>
            <a:chOff x="0" y="0"/>
            <a:chExt cx="4124325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124325" cy="533400"/>
            </a:xfrm>
            <a:custGeom>
              <a:avLst/>
              <a:gdLst/>
              <a:ahLst/>
              <a:cxnLst/>
              <a:rect r="r" b="b" t="t" l="l"/>
              <a:pathLst>
                <a:path h="533400" w="4124325">
                  <a:moveTo>
                    <a:pt x="0" y="0"/>
                  </a:moveTo>
                  <a:lnTo>
                    <a:pt x="4124325" y="0"/>
                  </a:lnTo>
                  <a:lnTo>
                    <a:pt x="412432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588" r="0" b="-35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3359572"/>
            <a:ext cx="5381473" cy="2382441"/>
            <a:chOff x="0" y="0"/>
            <a:chExt cx="7175297" cy="317658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53035" y="3359572"/>
            <a:ext cx="5381701" cy="2382441"/>
            <a:chOff x="0" y="0"/>
            <a:chExt cx="7175602" cy="317658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1" t="0" r="-10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20486" y="3359572"/>
            <a:ext cx="5381473" cy="2382441"/>
            <a:chOff x="0" y="0"/>
            <a:chExt cx="7175297" cy="317658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9" r="0" b="-3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6027763"/>
            <a:ext cx="5381473" cy="2382441"/>
            <a:chOff x="0" y="0"/>
            <a:chExt cx="7175297" cy="3176588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29" r="0" b="-33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53035" y="6027763"/>
            <a:ext cx="5381701" cy="2382441"/>
            <a:chOff x="0" y="0"/>
            <a:chExt cx="7175602" cy="3176588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97" r="0" b="-19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20486" y="6027763"/>
            <a:ext cx="5381473" cy="2382441"/>
            <a:chOff x="0" y="0"/>
            <a:chExt cx="7175297" cy="3176588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29" r="0" b="-33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What the Internship Set Out to Achieve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051" r="0" b="-205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85850" y="3659610"/>
            <a:ext cx="4781398" cy="314325"/>
            <a:chOff x="0" y="0"/>
            <a:chExt cx="6375197" cy="4191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09" r="0" b="-1909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85850" y="413586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AI &amp; ML Fundamentals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5850" y="4516860"/>
            <a:ext cx="4781398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Build a foundational understanding of Artificial Intelligence, Machine Learning, supervised learning, and classification.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53073" y="3659610"/>
            <a:ext cx="4781626" cy="314325"/>
            <a:chOff x="0" y="0"/>
            <a:chExt cx="6375502" cy="4191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6375527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527">
                  <a:moveTo>
                    <a:pt x="0" y="0"/>
                  </a:moveTo>
                  <a:lnTo>
                    <a:pt x="6375527" y="0"/>
                  </a:lnTo>
                  <a:lnTo>
                    <a:pt x="637552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757" r="0" b="-175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753073" y="4135860"/>
            <a:ext cx="502070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Data Preparation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53073" y="4516860"/>
            <a:ext cx="4781626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Learn to acquire, load, inspect, clean, and prepare a large-scale dataset for machine learning.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20524" y="3659610"/>
            <a:ext cx="4781398" cy="314325"/>
            <a:chOff x="0" y="0"/>
            <a:chExt cx="6375197" cy="419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909" r="0" b="-1909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20524" y="413586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Natural Language Processing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20524" y="4516860"/>
            <a:ext cx="4781398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Apply text preprocessing techniques including regular-expression cleaning, lowercase conversion, stop-word removal, and stemming.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85850" y="6327800"/>
            <a:ext cx="4781398" cy="314325"/>
            <a:chOff x="0" y="0"/>
            <a:chExt cx="6375197" cy="4191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909" r="0" b="-1909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85850" y="680405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Feature Extraction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5850" y="7185050"/>
            <a:ext cx="4781398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Convert processed tweet text into numerical representations using TF-IDF vectorization.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753073" y="6327800"/>
            <a:ext cx="4781626" cy="314325"/>
            <a:chOff x="0" y="0"/>
            <a:chExt cx="6375502" cy="4191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6375527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527">
                  <a:moveTo>
                    <a:pt x="0" y="0"/>
                  </a:moveTo>
                  <a:lnTo>
                    <a:pt x="6375527" y="0"/>
                  </a:lnTo>
                  <a:lnTo>
                    <a:pt x="637552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757" r="0" b="-1757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753073" y="6804050"/>
            <a:ext cx="502070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Model Development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53073" y="7185050"/>
            <a:ext cx="4781626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Train a Logistic Regression classifier for binary sentiment classification using an 80:20 stratified train-test split.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420524" y="6327800"/>
            <a:ext cx="4781398" cy="314325"/>
            <a:chOff x="0" y="0"/>
            <a:chExt cx="6375197" cy="4191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6375146" cy="419100"/>
            </a:xfrm>
            <a:custGeom>
              <a:avLst/>
              <a:gdLst/>
              <a:ahLst/>
              <a:cxnLst/>
              <a:rect r="r" b="b" t="t" l="l"/>
              <a:pathLst>
                <a:path h="419100" w="6375146">
                  <a:moveTo>
                    <a:pt x="0" y="0"/>
                  </a:moveTo>
                  <a:lnTo>
                    <a:pt x="6375146" y="0"/>
                  </a:lnTo>
                  <a:lnTo>
                    <a:pt x="637514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909" r="0" b="-1909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420524" y="6804050"/>
            <a:ext cx="50204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Evaluation &amp; Prediction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20524" y="7185050"/>
            <a:ext cx="4781398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Evaluate model performance using accuracy, save the trained model, reload it, and perform sentiment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501647"/>
            <a:ext cx="4707731" cy="541341"/>
            <a:chOff x="0" y="0"/>
            <a:chExt cx="4638675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638675" cy="533400"/>
            </a:xfrm>
            <a:custGeom>
              <a:avLst/>
              <a:gdLst/>
              <a:ahLst/>
              <a:cxnLst/>
              <a:rect r="r" b="b" t="t" l="l"/>
              <a:pathLst>
                <a:path h="533400" w="4638675">
                  <a:moveTo>
                    <a:pt x="0" y="0"/>
                  </a:moveTo>
                  <a:lnTo>
                    <a:pt x="4638675" y="0"/>
                  </a:lnTo>
                  <a:lnTo>
                    <a:pt x="463867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66" r="0" b="-316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3406673"/>
            <a:ext cx="4007644" cy="1409995"/>
            <a:chOff x="0" y="0"/>
            <a:chExt cx="5343525" cy="187999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4" r="0" b="-5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22056" y="3406673"/>
            <a:ext cx="4007644" cy="1409995"/>
            <a:chOff x="0" y="0"/>
            <a:chExt cx="5343525" cy="187999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" r="0" b="-57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58300" y="3406673"/>
            <a:ext cx="4007644" cy="1409995"/>
            <a:chOff x="0" y="0"/>
            <a:chExt cx="5343525" cy="187999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74" r="0" b="-57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94544" y="3406673"/>
            <a:ext cx="4007644" cy="1409995"/>
            <a:chOff x="0" y="0"/>
            <a:chExt cx="5343525" cy="187999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74" r="0" b="-57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5812" y="5045269"/>
            <a:ext cx="4007644" cy="1679229"/>
            <a:chOff x="0" y="0"/>
            <a:chExt cx="5343525" cy="2238972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10" r="0" b="-10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22056" y="5045269"/>
            <a:ext cx="4007644" cy="1679229"/>
            <a:chOff x="0" y="0"/>
            <a:chExt cx="5343525" cy="2238972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0" r="0" b="-10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58300" y="5045269"/>
            <a:ext cx="4007644" cy="1679229"/>
            <a:chOff x="0" y="0"/>
            <a:chExt cx="5343525" cy="223897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0" r="0" b="-10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494544" y="5045269"/>
            <a:ext cx="4007644" cy="1679229"/>
            <a:chOff x="0" y="0"/>
            <a:chExt cx="5343525" cy="2238972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343525" cy="2239010"/>
            </a:xfrm>
            <a:custGeom>
              <a:avLst/>
              <a:gdLst/>
              <a:ahLst/>
              <a:cxnLst/>
              <a:rect r="r" b="b" t="t" l="l"/>
              <a:pathLst>
                <a:path h="2239010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239010"/>
                  </a:lnTo>
                  <a:lnTo>
                    <a:pt x="0" y="2239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0" r="0" b="-10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85812" y="6953098"/>
            <a:ext cx="4007644" cy="1409995"/>
            <a:chOff x="0" y="0"/>
            <a:chExt cx="5343525" cy="1879994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74" r="0" b="-57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22056" y="6953098"/>
            <a:ext cx="4007644" cy="1409995"/>
            <a:chOff x="0" y="0"/>
            <a:chExt cx="5343525" cy="1879994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74" r="0" b="-57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58300" y="6953098"/>
            <a:ext cx="4007644" cy="1409995"/>
            <a:chOff x="0" y="0"/>
            <a:chExt cx="5343525" cy="1879994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74" r="0" b="-57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494544" y="6953098"/>
            <a:ext cx="4007644" cy="1409995"/>
            <a:chOff x="0" y="0"/>
            <a:chExt cx="5343525" cy="1879994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343525" cy="1879981"/>
            </a:xfrm>
            <a:custGeom>
              <a:avLst/>
              <a:gdLst/>
              <a:ahLst/>
              <a:cxnLst/>
              <a:rect r="r" b="b" t="t" l="l"/>
              <a:pathLst>
                <a:path h="1879981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1879981"/>
                  </a:lnTo>
                  <a:lnTo>
                    <a:pt x="0" y="187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574" r="0" b="-575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Toolkit Behind the Project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051" r="0" b="-205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43025" y="3649561"/>
            <a:ext cx="3207544" cy="300038"/>
            <a:chOff x="0" y="0"/>
            <a:chExt cx="4276725" cy="400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767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76724">
                  <a:moveTo>
                    <a:pt x="0" y="0"/>
                  </a:moveTo>
                  <a:lnTo>
                    <a:pt x="4276724" y="0"/>
                  </a:lnTo>
                  <a:lnTo>
                    <a:pt x="4276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8304" r="0" b="-1583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2767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Python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28700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Primary programming language for data processing and machine learning.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636419" y="3649561"/>
            <a:ext cx="3150394" cy="300038"/>
            <a:chOff x="0" y="0"/>
            <a:chExt cx="4200525" cy="400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005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00524">
                  <a:moveTo>
                    <a:pt x="0" y="0"/>
                  </a:moveTo>
                  <a:lnTo>
                    <a:pt x="4200524" y="0"/>
                  </a:lnTo>
                  <a:lnTo>
                    <a:pt x="42005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2005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Google Colab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264944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Cloud notebook environment used to develop and execute the project.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844088" y="3649561"/>
            <a:ext cx="3178969" cy="300038"/>
            <a:chOff x="0" y="0"/>
            <a:chExt cx="4238625" cy="400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386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38624">
                  <a:moveTo>
                    <a:pt x="0" y="0"/>
                  </a:moveTo>
                  <a:lnTo>
                    <a:pt x="4238624" y="0"/>
                  </a:lnTo>
                  <a:lnTo>
                    <a:pt x="42386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6448" r="0" b="-1564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2386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Kaggle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501188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Source platform used to obtain the Sentiment140 dataset.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080331" y="3649561"/>
            <a:ext cx="3178969" cy="300038"/>
            <a:chOff x="0" y="0"/>
            <a:chExt cx="4238625" cy="400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386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38624">
                  <a:moveTo>
                    <a:pt x="0" y="0"/>
                  </a:moveTo>
                  <a:lnTo>
                    <a:pt x="4238624" y="0"/>
                  </a:lnTo>
                  <a:lnTo>
                    <a:pt x="42386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6448" r="0" b="-15644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2386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Pandas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737431" y="3987698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CSV loading, DataFrame creation, inspection, and manipulation.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14450" y="5288156"/>
            <a:ext cx="3236119" cy="300038"/>
            <a:chOff x="0" y="0"/>
            <a:chExt cx="4314825" cy="4000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14824" cy="400050"/>
            </a:xfrm>
            <a:custGeom>
              <a:avLst/>
              <a:gdLst/>
              <a:ahLst/>
              <a:cxnLst/>
              <a:rect r="r" b="b" t="t" l="l"/>
              <a:pathLst>
                <a:path h="400050" w="4314824">
                  <a:moveTo>
                    <a:pt x="0" y="0"/>
                  </a:moveTo>
                  <a:lnTo>
                    <a:pt x="4314824" y="0"/>
                  </a:lnTo>
                  <a:lnTo>
                    <a:pt x="43148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60160" r="0" b="-1601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3148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NumPy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28700" y="5626294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Numerical and array-oriented operations.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664994" y="5288156"/>
            <a:ext cx="3121819" cy="300038"/>
            <a:chOff x="0" y="0"/>
            <a:chExt cx="4162425" cy="4000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62424" cy="400050"/>
            </a:xfrm>
            <a:custGeom>
              <a:avLst/>
              <a:gdLst/>
              <a:ahLst/>
              <a:cxnLst/>
              <a:rect r="r" b="b" t="t" l="l"/>
              <a:pathLst>
                <a:path h="400050" w="4162424">
                  <a:moveTo>
                    <a:pt x="0" y="0"/>
                  </a:moveTo>
                  <a:lnTo>
                    <a:pt x="4162424" y="0"/>
                  </a:lnTo>
                  <a:lnTo>
                    <a:pt x="41624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2737" r="0" b="-1527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1624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NLTK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5264944" y="5626294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Natural Language Processing utilities, stop-word processing, and stemming.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901238" y="5288156"/>
            <a:ext cx="3121819" cy="300038"/>
            <a:chOff x="0" y="0"/>
            <a:chExt cx="4162425" cy="400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62424" cy="400050"/>
            </a:xfrm>
            <a:custGeom>
              <a:avLst/>
              <a:gdLst/>
              <a:ahLst/>
              <a:cxnLst/>
              <a:rect r="r" b="b" t="t" l="l"/>
              <a:pathLst>
                <a:path h="400050" w="4162424">
                  <a:moveTo>
                    <a:pt x="0" y="0"/>
                  </a:moveTo>
                  <a:lnTo>
                    <a:pt x="4162424" y="0"/>
                  </a:lnTo>
                  <a:lnTo>
                    <a:pt x="41624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2737" r="0" b="-1527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1624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Scikit-learn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501188" y="5626294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Feature extraction, train-test splitting, Logistic Regression, and evaluation.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4108906" y="5288156"/>
            <a:ext cx="3150394" cy="300038"/>
            <a:chOff x="0" y="0"/>
            <a:chExt cx="4200525" cy="4000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005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00524">
                  <a:moveTo>
                    <a:pt x="0" y="0"/>
                  </a:moveTo>
                  <a:lnTo>
                    <a:pt x="4200524" y="0"/>
                  </a:lnTo>
                  <a:lnTo>
                    <a:pt x="42005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2005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TF-IDF + LogReg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3737431" y="5626294"/>
            <a:ext cx="3521869" cy="85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TF-IDF converts text into numerical features; Logistic Regression classifies sentiment.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428750" y="7195985"/>
            <a:ext cx="3121819" cy="300038"/>
            <a:chOff x="0" y="0"/>
            <a:chExt cx="4162425" cy="4000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62424" cy="400050"/>
            </a:xfrm>
            <a:custGeom>
              <a:avLst/>
              <a:gdLst/>
              <a:ahLst/>
              <a:cxnLst/>
              <a:rect r="r" b="b" t="t" l="l"/>
              <a:pathLst>
                <a:path h="400050" w="4162424">
                  <a:moveTo>
                    <a:pt x="0" y="0"/>
                  </a:moveTo>
                  <a:lnTo>
                    <a:pt x="4162424" y="0"/>
                  </a:lnTo>
                  <a:lnTo>
                    <a:pt x="41624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2737" r="0" b="-1527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1624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RegEx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028700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Cleaning non-alphabetic characters from tweet text.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5607844" y="7195985"/>
            <a:ext cx="3178969" cy="300038"/>
            <a:chOff x="0" y="0"/>
            <a:chExt cx="4238625" cy="4000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386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38624">
                  <a:moveTo>
                    <a:pt x="0" y="0"/>
                  </a:moveTo>
                  <a:lnTo>
                    <a:pt x="4238624" y="0"/>
                  </a:lnTo>
                  <a:lnTo>
                    <a:pt x="42386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6448" r="0" b="-15644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2386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PorterStemmer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5264944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Reducing related word forms to common stem representations.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815512" y="7195985"/>
            <a:ext cx="3207544" cy="300038"/>
            <a:chOff x="0" y="0"/>
            <a:chExt cx="4276725" cy="4000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2767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76724">
                  <a:moveTo>
                    <a:pt x="0" y="0"/>
                  </a:moveTo>
                  <a:lnTo>
                    <a:pt x="4276724" y="0"/>
                  </a:lnTo>
                  <a:lnTo>
                    <a:pt x="4276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8304" r="0" b="-15830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2767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Pickle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501188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Saving and loading the trained machine learning model.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051756" y="7195985"/>
            <a:ext cx="3207544" cy="300038"/>
            <a:chOff x="0" y="0"/>
            <a:chExt cx="4276725" cy="4000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76724" cy="400050"/>
            </a:xfrm>
            <a:custGeom>
              <a:avLst/>
              <a:gdLst/>
              <a:ahLst/>
              <a:cxnLst/>
              <a:rect r="r" b="b" t="t" l="l"/>
              <a:pathLst>
                <a:path h="400050" w="4276724">
                  <a:moveTo>
                    <a:pt x="0" y="0"/>
                  </a:moveTo>
                  <a:lnTo>
                    <a:pt x="4276724" y="0"/>
                  </a:lnTo>
                  <a:lnTo>
                    <a:pt x="4276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58304" r="0" b="-15830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276725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accuracy_score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3737431" y="7534123"/>
            <a:ext cx="3521869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Measuring training and testing classification accuracy.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028700" y="3685280"/>
            <a:ext cx="200025" cy="228600"/>
            <a:chOff x="0" y="0"/>
            <a:chExt cx="266700" cy="304800"/>
          </a:xfrm>
        </p:grpSpPr>
        <p:sp>
          <p:nvSpPr>
            <p:cNvPr name="Freeform 82" id="82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3125" r="0" b="-3125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264944" y="3685280"/>
            <a:ext cx="257175" cy="228600"/>
            <a:chOff x="0" y="0"/>
            <a:chExt cx="342900" cy="304800"/>
          </a:xfrm>
        </p:grpSpPr>
        <p:sp>
          <p:nvSpPr>
            <p:cNvPr name="Freeform 84" id="84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329" r="0" b="-32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501188" y="3685280"/>
            <a:ext cx="228600" cy="228600"/>
            <a:chOff x="0" y="0"/>
            <a:chExt cx="304800" cy="304800"/>
          </a:xfrm>
        </p:grpSpPr>
        <p:sp>
          <p:nvSpPr>
            <p:cNvPr name="Freeform 86" id="86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125" r="0" b="-3125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737431" y="3685280"/>
            <a:ext cx="228600" cy="228600"/>
            <a:chOff x="0" y="0"/>
            <a:chExt cx="304800" cy="304800"/>
          </a:xfrm>
        </p:grpSpPr>
        <p:sp>
          <p:nvSpPr>
            <p:cNvPr name="Freeform 88" id="8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28700" y="5323875"/>
            <a:ext cx="171450" cy="228600"/>
            <a:chOff x="0" y="0"/>
            <a:chExt cx="228600" cy="304800"/>
          </a:xfrm>
        </p:grpSpPr>
        <p:sp>
          <p:nvSpPr>
            <p:cNvPr name="Freeform 90" id="90" descr="image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125" r="0" b="-312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264944" y="5323875"/>
            <a:ext cx="285750" cy="228600"/>
            <a:chOff x="0" y="0"/>
            <a:chExt cx="381000" cy="304800"/>
          </a:xfrm>
        </p:grpSpPr>
        <p:sp>
          <p:nvSpPr>
            <p:cNvPr name="Freeform 92" id="92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595" r="0" b="-59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501188" y="5323875"/>
            <a:ext cx="285750" cy="228600"/>
            <a:chOff x="0" y="0"/>
            <a:chExt cx="381000" cy="304800"/>
          </a:xfrm>
        </p:grpSpPr>
        <p:sp>
          <p:nvSpPr>
            <p:cNvPr name="Freeform 94" id="94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3125" r="0" b="-3125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737431" y="5323875"/>
            <a:ext cx="257175" cy="228600"/>
            <a:chOff x="0" y="0"/>
            <a:chExt cx="342900" cy="304800"/>
          </a:xfrm>
        </p:grpSpPr>
        <p:sp>
          <p:nvSpPr>
            <p:cNvPr name="Freeform 96" id="96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329" r="0" b="-329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28700" y="7231704"/>
            <a:ext cx="285750" cy="228600"/>
            <a:chOff x="0" y="0"/>
            <a:chExt cx="381000" cy="304800"/>
          </a:xfrm>
        </p:grpSpPr>
        <p:sp>
          <p:nvSpPr>
            <p:cNvPr name="Freeform 98" id="98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3125" r="0" b="-3125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264944" y="7231704"/>
            <a:ext cx="228600" cy="228600"/>
            <a:chOff x="0" y="0"/>
            <a:chExt cx="304800" cy="304800"/>
          </a:xfrm>
        </p:grpSpPr>
        <p:sp>
          <p:nvSpPr>
            <p:cNvPr name="Freeform 100" id="100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01188" y="7231704"/>
            <a:ext cx="200025" cy="228600"/>
            <a:chOff x="0" y="0"/>
            <a:chExt cx="266700" cy="304800"/>
          </a:xfrm>
        </p:grpSpPr>
        <p:sp>
          <p:nvSpPr>
            <p:cNvPr name="Freeform 102" id="102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3125" r="0" b="-3125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737431" y="7231704"/>
            <a:ext cx="200025" cy="228600"/>
            <a:chOff x="0" y="0"/>
            <a:chExt cx="266700" cy="304800"/>
          </a:xfrm>
        </p:grpSpPr>
        <p:sp>
          <p:nvSpPr>
            <p:cNvPr name="Freeform 104" id="104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19" t="0" r="-419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526911"/>
            <a:ext cx="4331360" cy="516077"/>
            <a:chOff x="0" y="0"/>
            <a:chExt cx="447675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47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52" r="0" b="-365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263007"/>
            <a:ext cx="16716375" cy="885825"/>
            <a:chOff x="0" y="0"/>
            <a:chExt cx="22288500" cy="11811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06" r="0" b="-8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812" y="3534594"/>
            <a:ext cx="16716375" cy="885825"/>
            <a:chOff x="0" y="0"/>
            <a:chExt cx="22288500" cy="1181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06" r="0" b="-80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812" y="4806182"/>
            <a:ext cx="16716375" cy="885825"/>
            <a:chOff x="0" y="0"/>
            <a:chExt cx="22288500" cy="1181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06" r="0" b="-8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6077769"/>
            <a:ext cx="16716375" cy="885825"/>
            <a:chOff x="0" y="0"/>
            <a:chExt cx="22288500" cy="11811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06" r="0" b="-80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5812" y="7349357"/>
            <a:ext cx="16716375" cy="885825"/>
            <a:chOff x="0" y="0"/>
            <a:chExt cx="22288500" cy="11811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06" r="0" b="-80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5812" y="8620944"/>
            <a:ext cx="16716375" cy="885825"/>
            <a:chOff x="0" y="0"/>
            <a:chExt cx="22288500" cy="11811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2288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2288500">
                  <a:moveTo>
                    <a:pt x="0" y="0"/>
                  </a:moveTo>
                  <a:lnTo>
                    <a:pt x="22288500" y="0"/>
                  </a:lnTo>
                  <a:lnTo>
                    <a:pt x="2228850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06" r="0" b="-80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943350" y="2448744"/>
            <a:ext cx="13258800" cy="514350"/>
            <a:chOff x="0" y="0"/>
            <a:chExt cx="17678400" cy="685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77" r="0" b="-127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43350" y="3720332"/>
            <a:ext cx="13258800" cy="514350"/>
            <a:chOff x="0" y="0"/>
            <a:chExt cx="176784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77" r="0" b="-127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43350" y="4991919"/>
            <a:ext cx="13258800" cy="514350"/>
            <a:chOff x="0" y="0"/>
            <a:chExt cx="176784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77" r="0" b="-127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943350" y="6263507"/>
            <a:ext cx="13258800" cy="514350"/>
            <a:chOff x="0" y="0"/>
            <a:chExt cx="1767840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277" r="0" b="-127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943350" y="7535094"/>
            <a:ext cx="13258800" cy="514350"/>
            <a:chOff x="0" y="0"/>
            <a:chExt cx="17678400" cy="685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277" r="0" b="-127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943350" y="8806682"/>
            <a:ext cx="13258800" cy="514350"/>
            <a:chOff x="0" y="0"/>
            <a:chExt cx="17678400" cy="6858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17678400" cy="685800"/>
            </a:xfrm>
            <a:custGeom>
              <a:avLst/>
              <a:gdLst/>
              <a:ahLst/>
              <a:cxnLst/>
              <a:rect r="r" b="b" t="t" l="l"/>
              <a:pathLst>
                <a:path h="685800" w="17678400">
                  <a:moveTo>
                    <a:pt x="0" y="0"/>
                  </a:moveTo>
                  <a:lnTo>
                    <a:pt x="17678400" y="0"/>
                  </a:lnTo>
                  <a:lnTo>
                    <a:pt x="17678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277" r="0" b="-127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Raw Tweet to Sentiment Prediction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5838" y="750094"/>
            <a:ext cx="235744" cy="185738"/>
            <a:chOff x="0" y="0"/>
            <a:chExt cx="314325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14325" cy="247650"/>
            </a:xfrm>
            <a:custGeom>
              <a:avLst/>
              <a:gdLst/>
              <a:ahLst/>
              <a:cxnLst/>
              <a:rect r="r" b="b" t="t" l="l"/>
              <a:pathLst>
                <a:path h="247650" w="314325">
                  <a:moveTo>
                    <a:pt x="0" y="0"/>
                  </a:moveTo>
                  <a:lnTo>
                    <a:pt x="314325" y="0"/>
                  </a:lnTo>
                  <a:lnTo>
                    <a:pt x="3143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261" r="0" b="-226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11786" y="2577332"/>
            <a:ext cx="2531564" cy="257175"/>
            <a:chOff x="0" y="0"/>
            <a:chExt cx="3375419" cy="342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754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75420">
                  <a:moveTo>
                    <a:pt x="0" y="0"/>
                  </a:moveTo>
                  <a:lnTo>
                    <a:pt x="3375420" y="0"/>
                  </a:lnTo>
                  <a:lnTo>
                    <a:pt x="33754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41805" r="0" b="-1418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3754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79706" y="3263132"/>
            <a:ext cx="128588" cy="171450"/>
            <a:chOff x="0" y="0"/>
            <a:chExt cx="171450" cy="2286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40361" y="3848919"/>
            <a:ext cx="2502989" cy="257175"/>
            <a:chOff x="0" y="0"/>
            <a:chExt cx="3337319" cy="342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373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37320">
                  <a:moveTo>
                    <a:pt x="0" y="0"/>
                  </a:moveTo>
                  <a:lnTo>
                    <a:pt x="3337320" y="0"/>
                  </a:lnTo>
                  <a:lnTo>
                    <a:pt x="33373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39640" r="0" b="-1396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3373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79706" y="4534719"/>
            <a:ext cx="128588" cy="171450"/>
            <a:chOff x="0" y="0"/>
            <a:chExt cx="171450" cy="2286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40361" y="5120507"/>
            <a:ext cx="2502989" cy="257175"/>
            <a:chOff x="0" y="0"/>
            <a:chExt cx="3337319" cy="342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373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37320">
                  <a:moveTo>
                    <a:pt x="0" y="0"/>
                  </a:moveTo>
                  <a:lnTo>
                    <a:pt x="3337320" y="0"/>
                  </a:lnTo>
                  <a:lnTo>
                    <a:pt x="33373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39640" r="0" b="-13964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3373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79706" y="5806307"/>
            <a:ext cx="128588" cy="171450"/>
            <a:chOff x="0" y="0"/>
            <a:chExt cx="171450" cy="2286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11786" y="6392094"/>
            <a:ext cx="2531564" cy="257175"/>
            <a:chOff x="0" y="0"/>
            <a:chExt cx="3375419" cy="342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754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75420">
                  <a:moveTo>
                    <a:pt x="0" y="0"/>
                  </a:moveTo>
                  <a:lnTo>
                    <a:pt x="3375420" y="0"/>
                  </a:lnTo>
                  <a:lnTo>
                    <a:pt x="33754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41805" r="0" b="-14180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3754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079706" y="7077894"/>
            <a:ext cx="128588" cy="171450"/>
            <a:chOff x="0" y="0"/>
            <a:chExt cx="171450" cy="2286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40361" y="7663682"/>
            <a:ext cx="2502989" cy="257175"/>
            <a:chOff x="0" y="0"/>
            <a:chExt cx="3337319" cy="3429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37320" cy="342900"/>
            </a:xfrm>
            <a:custGeom>
              <a:avLst/>
              <a:gdLst/>
              <a:ahLst/>
              <a:cxnLst/>
              <a:rect r="r" b="b" t="t" l="l"/>
              <a:pathLst>
                <a:path h="342900" w="3337320">
                  <a:moveTo>
                    <a:pt x="0" y="0"/>
                  </a:moveTo>
                  <a:lnTo>
                    <a:pt x="3337320" y="0"/>
                  </a:lnTo>
                  <a:lnTo>
                    <a:pt x="333732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39640" r="0" b="-1396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33731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563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079706" y="8349482"/>
            <a:ext cx="128588" cy="171450"/>
            <a:chOff x="0" y="0"/>
            <a:chExt cx="171450" cy="2286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171450" cy="228600"/>
            </a:xfrm>
            <a:custGeom>
              <a:avLst/>
              <a:gdLst/>
              <a:ahLst/>
              <a:cxnLst/>
              <a:rect r="r" b="b" t="t" l="l"/>
              <a:pathLst>
                <a:path h="2286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81" t="0" r="-1281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97498" y="8935269"/>
            <a:ext cx="2545852" cy="257175"/>
            <a:chOff x="0" y="0"/>
            <a:chExt cx="3394469" cy="3429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94470" cy="342900"/>
            </a:xfrm>
            <a:custGeom>
              <a:avLst/>
              <a:gdLst/>
              <a:ahLst/>
              <a:cxnLst/>
              <a:rect r="r" b="b" t="t" l="l"/>
              <a:pathLst>
                <a:path h="342900" w="3394470">
                  <a:moveTo>
                    <a:pt x="0" y="0"/>
                  </a:moveTo>
                  <a:lnTo>
                    <a:pt x="3394470" y="0"/>
                  </a:lnTo>
                  <a:lnTo>
                    <a:pt x="339447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42888" r="0" b="-14288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394469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4ED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LAYER 6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85850" y="2605907"/>
            <a:ext cx="183061" cy="200025"/>
            <a:chOff x="0" y="0"/>
            <a:chExt cx="244081" cy="266700"/>
          </a:xfrm>
        </p:grpSpPr>
        <p:sp>
          <p:nvSpPr>
            <p:cNvPr name="Freeform 62" id="62" descr="image.png"/>
            <p:cNvSpPr/>
            <p:nvPr/>
          </p:nvSpPr>
          <p:spPr>
            <a:xfrm flipH="false" flipV="false" rot="0">
              <a:off x="0" y="0"/>
              <a:ext cx="244094" cy="266700"/>
            </a:xfrm>
            <a:custGeom>
              <a:avLst/>
              <a:gdLst/>
              <a:ahLst/>
              <a:cxnLst/>
              <a:rect r="r" b="b" t="t" l="l"/>
              <a:pathLst>
                <a:path h="266700" w="244094">
                  <a:moveTo>
                    <a:pt x="0" y="0"/>
                  </a:moveTo>
                  <a:lnTo>
                    <a:pt x="244094" y="0"/>
                  </a:lnTo>
                  <a:lnTo>
                    <a:pt x="2440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799" r="5" b="-279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85850" y="3877494"/>
            <a:ext cx="211636" cy="200025"/>
            <a:chOff x="0" y="0"/>
            <a:chExt cx="282181" cy="266700"/>
          </a:xfrm>
        </p:grpSpPr>
        <p:sp>
          <p:nvSpPr>
            <p:cNvPr name="Freeform 64" id="64" descr="image.png"/>
            <p:cNvSpPr/>
            <p:nvPr/>
          </p:nvSpPr>
          <p:spPr>
            <a:xfrm flipH="false" flipV="false" rot="0">
              <a:off x="0" y="0"/>
              <a:ext cx="282194" cy="266700"/>
            </a:xfrm>
            <a:custGeom>
              <a:avLst/>
              <a:gdLst/>
              <a:ahLst/>
              <a:cxnLst/>
              <a:rect r="r" b="b" t="t" l="l"/>
              <a:pathLst>
                <a:path h="266700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900" r="4" b="-2904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85850" y="5149082"/>
            <a:ext cx="211636" cy="200025"/>
            <a:chOff x="0" y="0"/>
            <a:chExt cx="282181" cy="266700"/>
          </a:xfrm>
        </p:grpSpPr>
        <p:sp>
          <p:nvSpPr>
            <p:cNvPr name="Freeform 66" id="66" descr="image.png"/>
            <p:cNvSpPr/>
            <p:nvPr/>
          </p:nvSpPr>
          <p:spPr>
            <a:xfrm flipH="false" flipV="false" rot="0">
              <a:off x="0" y="0"/>
              <a:ext cx="282194" cy="266700"/>
            </a:xfrm>
            <a:custGeom>
              <a:avLst/>
              <a:gdLst/>
              <a:ahLst/>
              <a:cxnLst/>
              <a:rect r="r" b="b" t="t" l="l"/>
              <a:pathLst>
                <a:path h="266700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900" r="4" b="-2904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85850" y="6420669"/>
            <a:ext cx="183061" cy="200025"/>
            <a:chOff x="0" y="0"/>
            <a:chExt cx="244081" cy="266700"/>
          </a:xfrm>
        </p:grpSpPr>
        <p:sp>
          <p:nvSpPr>
            <p:cNvPr name="Freeform 68" id="68" descr="image.png"/>
            <p:cNvSpPr/>
            <p:nvPr/>
          </p:nvSpPr>
          <p:spPr>
            <a:xfrm flipH="false" flipV="false" rot="0">
              <a:off x="0" y="0"/>
              <a:ext cx="244094" cy="266700"/>
            </a:xfrm>
            <a:custGeom>
              <a:avLst/>
              <a:gdLst/>
              <a:ahLst/>
              <a:cxnLst/>
              <a:rect r="r" b="b" t="t" l="l"/>
              <a:pathLst>
                <a:path h="266700" w="244094">
                  <a:moveTo>
                    <a:pt x="0" y="0"/>
                  </a:moveTo>
                  <a:lnTo>
                    <a:pt x="244094" y="0"/>
                  </a:lnTo>
                  <a:lnTo>
                    <a:pt x="2440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799" r="5" b="-279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85850" y="7692257"/>
            <a:ext cx="211636" cy="200025"/>
            <a:chOff x="0" y="0"/>
            <a:chExt cx="282181" cy="266700"/>
          </a:xfrm>
        </p:grpSpPr>
        <p:sp>
          <p:nvSpPr>
            <p:cNvPr name="Freeform 70" id="70" descr="image.png"/>
            <p:cNvSpPr/>
            <p:nvPr/>
          </p:nvSpPr>
          <p:spPr>
            <a:xfrm flipH="false" flipV="false" rot="0">
              <a:off x="0" y="0"/>
              <a:ext cx="282194" cy="266700"/>
            </a:xfrm>
            <a:custGeom>
              <a:avLst/>
              <a:gdLst/>
              <a:ahLst/>
              <a:cxnLst/>
              <a:rect r="r" b="b" t="t" l="l"/>
              <a:pathLst>
                <a:path h="266700" w="282194">
                  <a:moveTo>
                    <a:pt x="0" y="0"/>
                  </a:moveTo>
                  <a:lnTo>
                    <a:pt x="282194" y="0"/>
                  </a:lnTo>
                  <a:lnTo>
                    <a:pt x="28219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900" r="4" b="-2904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85850" y="8963844"/>
            <a:ext cx="168773" cy="200025"/>
            <a:chOff x="0" y="0"/>
            <a:chExt cx="225031" cy="266700"/>
          </a:xfrm>
        </p:grpSpPr>
        <p:sp>
          <p:nvSpPr>
            <p:cNvPr name="Freeform 72" id="72" descr="image.png"/>
            <p:cNvSpPr/>
            <p:nvPr/>
          </p:nvSpPr>
          <p:spPr>
            <a:xfrm flipH="false" flipV="false" rot="0">
              <a:off x="0" y="0"/>
              <a:ext cx="225044" cy="266700"/>
            </a:xfrm>
            <a:custGeom>
              <a:avLst/>
              <a:gdLst/>
              <a:ahLst/>
              <a:cxnLst/>
              <a:rect r="r" b="b" t="t" l="l"/>
              <a:pathLst>
                <a:path h="266700" w="225044">
                  <a:moveTo>
                    <a:pt x="0" y="0"/>
                  </a:moveTo>
                  <a:lnTo>
                    <a:pt x="225044" y="0"/>
                  </a:lnTo>
                  <a:lnTo>
                    <a:pt x="225044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733" r="5" b="-2733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3550663"/>
            <a:ext cx="4007644" cy="2219916"/>
            <a:chOff x="0" y="0"/>
            <a:chExt cx="5343525" cy="2959887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1" r="0" b="-1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22056" y="3550663"/>
            <a:ext cx="4007644" cy="2219916"/>
            <a:chOff x="0" y="0"/>
            <a:chExt cx="5343525" cy="295988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0" b="-11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58300" y="3550663"/>
            <a:ext cx="4007644" cy="2219916"/>
            <a:chOff x="0" y="0"/>
            <a:chExt cx="5343525" cy="295988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1" r="0" b="-11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94544" y="3550663"/>
            <a:ext cx="4007644" cy="2219916"/>
            <a:chOff x="0" y="0"/>
            <a:chExt cx="5343525" cy="2959887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1" r="0" b="-11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5999188"/>
            <a:ext cx="4007644" cy="2219916"/>
            <a:chOff x="0" y="0"/>
            <a:chExt cx="5343525" cy="2959887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32" r="0" b="-43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22056" y="5999188"/>
            <a:ext cx="4007644" cy="2219916"/>
            <a:chOff x="0" y="0"/>
            <a:chExt cx="5343525" cy="2959887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32" r="0" b="-43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58300" y="5999188"/>
            <a:ext cx="4007644" cy="2219916"/>
            <a:chOff x="0" y="0"/>
            <a:chExt cx="5343525" cy="2959887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32" r="0" b="-43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494544" y="5999188"/>
            <a:ext cx="4007644" cy="2219916"/>
            <a:chOff x="0" y="0"/>
            <a:chExt cx="5343525" cy="2959887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343525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43525">
                  <a:moveTo>
                    <a:pt x="0" y="0"/>
                  </a:moveTo>
                  <a:lnTo>
                    <a:pt x="5343525" y="0"/>
                  </a:lnTo>
                  <a:lnTo>
                    <a:pt x="5343525" y="2959862"/>
                  </a:lnTo>
                  <a:lnTo>
                    <a:pt x="0" y="295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32" r="0" b="-43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57275" y="3822125"/>
            <a:ext cx="400050" cy="400050"/>
            <a:chOff x="0" y="0"/>
            <a:chExt cx="53340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785" r="0" b="-178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93519" y="3822125"/>
            <a:ext cx="400050" cy="400050"/>
            <a:chOff x="0" y="0"/>
            <a:chExt cx="533400" cy="533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29762" y="3822125"/>
            <a:ext cx="400050" cy="400050"/>
            <a:chOff x="0" y="0"/>
            <a:chExt cx="533400" cy="533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785" r="0" b="-17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66006" y="3822125"/>
            <a:ext cx="400050" cy="400050"/>
            <a:chOff x="0" y="0"/>
            <a:chExt cx="533400" cy="533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57275" y="6270650"/>
            <a:ext cx="400050" cy="400050"/>
            <a:chOff x="0" y="0"/>
            <a:chExt cx="533400" cy="5334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785" r="0" b="-178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293519" y="6270650"/>
            <a:ext cx="400050" cy="400050"/>
            <a:chOff x="0" y="0"/>
            <a:chExt cx="533400" cy="5334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29762" y="6270650"/>
            <a:ext cx="400050" cy="400050"/>
            <a:chOff x="0" y="0"/>
            <a:chExt cx="533400" cy="5334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785" r="0" b="-178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66006" y="6270650"/>
            <a:ext cx="400050" cy="400050"/>
            <a:chOff x="0" y="0"/>
            <a:chExt cx="533400" cy="5334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45-Day Learning Journey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051" r="0" b="-2051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57275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AI &amp; ML Fundamentals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7275" y="4665088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Introduction to AI, Machine Learning, supervised learning, classification, and ML workflows.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93519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Python for AI/ML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93519" y="4665088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Using Python, libraries, functions, data structures, and notebook development.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29762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Data Analysis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9762" y="4665088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Loading datasets, checking dimensions, missing values, and target distributions.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66006" y="4346000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NLP Concepts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66006" y="4665088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text data, tokenization, normalization, stop-words, and stemming.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7275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Text Preprocessing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57275" y="7113613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Cleaning tweets with regex, lowercase conversion, and creating stemmed content.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93519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TF-IDF Extraction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93519" y="7113613"/>
            <a:ext cx="3464719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Converting processed tweets into numerical feature matrices for ML models.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29762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Logistic Regression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29762" y="7113613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Training a binary classification model with an 80:20 stratified train-test split.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66006" y="6794525"/>
            <a:ext cx="36379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Evaluation &amp; Pickle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66006" y="7113613"/>
            <a:ext cx="3464719" cy="57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Measuring accuracy, saving model using Pickle, reloading, and predicting.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4500" y="6286500"/>
            <a:ext cx="5715000" cy="5715000"/>
            <a:chOff x="0" y="0"/>
            <a:chExt cx="7620000" cy="7620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577822"/>
            <a:ext cx="3638257" cy="465165"/>
            <a:chOff x="0" y="0"/>
            <a:chExt cx="417195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171950" cy="533400"/>
            </a:xfrm>
            <a:custGeom>
              <a:avLst/>
              <a:gdLst/>
              <a:ahLst/>
              <a:cxnLst/>
              <a:rect r="r" b="b" t="t" l="l"/>
              <a:pathLst>
                <a:path h="533400" w="4171950">
                  <a:moveTo>
                    <a:pt x="0" y="0"/>
                  </a:moveTo>
                  <a:lnTo>
                    <a:pt x="4171950" y="0"/>
                  </a:lnTo>
                  <a:lnTo>
                    <a:pt x="41719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45" r="0" b="-264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3359572"/>
            <a:ext cx="5381473" cy="2382441"/>
            <a:chOff x="0" y="0"/>
            <a:chExt cx="7175297" cy="317658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3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53035" y="3359572"/>
            <a:ext cx="5381701" cy="2382441"/>
            <a:chOff x="0" y="0"/>
            <a:chExt cx="7175602" cy="317658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1" t="0" r="-10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20486" y="3359572"/>
            <a:ext cx="5381473" cy="2382441"/>
            <a:chOff x="0" y="0"/>
            <a:chExt cx="7175297" cy="317658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3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812" y="6027763"/>
            <a:ext cx="5381473" cy="2382441"/>
            <a:chOff x="0" y="0"/>
            <a:chExt cx="7175297" cy="3176588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29" r="0" b="-33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53035" y="6027763"/>
            <a:ext cx="5381701" cy="2382441"/>
            <a:chOff x="0" y="0"/>
            <a:chExt cx="7175602" cy="3176588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175627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627">
                  <a:moveTo>
                    <a:pt x="0" y="0"/>
                  </a:moveTo>
                  <a:lnTo>
                    <a:pt x="7175627" y="0"/>
                  </a:lnTo>
                  <a:lnTo>
                    <a:pt x="7175627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7" r="0" b="-19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20486" y="6027763"/>
            <a:ext cx="5381473" cy="2382441"/>
            <a:chOff x="0" y="0"/>
            <a:chExt cx="7175297" cy="3176588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175246" cy="3176524"/>
            </a:xfrm>
            <a:custGeom>
              <a:avLst/>
              <a:gdLst/>
              <a:ahLst/>
              <a:cxnLst/>
              <a:rect r="r" b="b" t="t" l="l"/>
              <a:pathLst>
                <a:path h="3176524" w="7175246">
                  <a:moveTo>
                    <a:pt x="0" y="0"/>
                  </a:moveTo>
                  <a:lnTo>
                    <a:pt x="7175246" y="0"/>
                  </a:lnTo>
                  <a:lnTo>
                    <a:pt x="7175246" y="3176524"/>
                  </a:lnTo>
                  <a:lnTo>
                    <a:pt x="0" y="3176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29" r="0" b="-33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Skills &amp; Capabilities Gained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5838" y="750094"/>
            <a:ext cx="164306" cy="185738"/>
            <a:chOff x="0" y="0"/>
            <a:chExt cx="219075" cy="2476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19075" cy="247650"/>
            </a:xfrm>
            <a:custGeom>
              <a:avLst/>
              <a:gdLst/>
              <a:ahLst/>
              <a:cxnLst/>
              <a:rect r="r" b="b" t="t" l="l"/>
              <a:pathLst>
                <a:path h="247650" w="219075">
                  <a:moveTo>
                    <a:pt x="0" y="0"/>
                  </a:moveTo>
                  <a:lnTo>
                    <a:pt x="219075" y="0"/>
                  </a:lnTo>
                  <a:lnTo>
                    <a:pt x="21907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00" r="0" b="-160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8712" y="3659610"/>
            <a:ext cx="4738535" cy="314325"/>
            <a:chOff x="0" y="0"/>
            <a:chExt cx="6318047" cy="4191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442" r="0" b="-144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28712" y="413586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AI/ML Workflow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8712" y="4516860"/>
            <a:ext cx="4738535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how a machine learning problem progresses from data acquisition to prediction and model persistence.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95935" y="3659610"/>
            <a:ext cx="4738764" cy="314325"/>
            <a:chOff x="0" y="0"/>
            <a:chExt cx="6318352" cy="4191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6318377" cy="419100"/>
            </a:xfrm>
            <a:custGeom>
              <a:avLst/>
              <a:gdLst/>
              <a:ahLst/>
              <a:cxnLst/>
              <a:rect r="r" b="b" t="t" l="l"/>
              <a:pathLst>
                <a:path h="419100" w="6318377">
                  <a:moveTo>
                    <a:pt x="0" y="0"/>
                  </a:moveTo>
                  <a:lnTo>
                    <a:pt x="6318377" y="0"/>
                  </a:lnTo>
                  <a:lnTo>
                    <a:pt x="631837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93" r="0" b="-1293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795935" y="4135860"/>
            <a:ext cx="497569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Data Handling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95935" y="4516860"/>
            <a:ext cx="4738764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Practical experience in loading, inspecting, cleaning, transforming, and preparing a large dataset.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63386" y="3659610"/>
            <a:ext cx="4738535" cy="314325"/>
            <a:chOff x="0" y="0"/>
            <a:chExt cx="6318047" cy="419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442" r="0" b="-144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63386" y="413586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Natural Language Processing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63386" y="4516860"/>
            <a:ext cx="4738535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and applying text preprocessing techniques specifically tailored for social-media text.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28712" y="6327800"/>
            <a:ext cx="4738535" cy="314325"/>
            <a:chOff x="0" y="0"/>
            <a:chExt cx="6318047" cy="4191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442" r="0" b="-1445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28712" y="680405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4. Machine Learning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8712" y="7185050"/>
            <a:ext cx="4738535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Practical experience with TF-IDF feature extraction and Logistic Regression for binary classification.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795935" y="6327800"/>
            <a:ext cx="4738764" cy="314325"/>
            <a:chOff x="0" y="0"/>
            <a:chExt cx="6318352" cy="4191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6318377" cy="419100"/>
            </a:xfrm>
            <a:custGeom>
              <a:avLst/>
              <a:gdLst/>
              <a:ahLst/>
              <a:cxnLst/>
              <a:rect r="r" b="b" t="t" l="l"/>
              <a:pathLst>
                <a:path h="419100" w="6318377">
                  <a:moveTo>
                    <a:pt x="0" y="0"/>
                  </a:moveTo>
                  <a:lnTo>
                    <a:pt x="6318377" y="0"/>
                  </a:lnTo>
                  <a:lnTo>
                    <a:pt x="6318377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293" r="0" b="-1293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795935" y="6804050"/>
            <a:ext cx="497569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5. Model Evaluation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95935" y="7185050"/>
            <a:ext cx="4738764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Understanding train-test splitting and evaluating model performance using classification accuracy on unseen data.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463386" y="6327800"/>
            <a:ext cx="4738535" cy="314325"/>
            <a:chOff x="0" y="0"/>
            <a:chExt cx="6318047" cy="4191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6317996" cy="419100"/>
            </a:xfrm>
            <a:custGeom>
              <a:avLst/>
              <a:gdLst/>
              <a:ahLst/>
              <a:cxnLst/>
              <a:rect r="r" b="b" t="t" l="l"/>
              <a:pathLst>
                <a:path h="419100" w="6317996">
                  <a:moveTo>
                    <a:pt x="0" y="0"/>
                  </a:moveTo>
                  <a:lnTo>
                    <a:pt x="6317996" y="0"/>
                  </a:lnTo>
                  <a:lnTo>
                    <a:pt x="6317996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442" r="0" b="-1445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463386" y="6804050"/>
            <a:ext cx="49754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6. Engineering Practices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63386" y="7185050"/>
            <a:ext cx="4738535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518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Developing skills in reproducibility, model persistence, systematic problem solving, and computational awareness.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6125" y="-1428750"/>
            <a:ext cx="5000625" cy="5000625"/>
            <a:chOff x="0" y="0"/>
            <a:chExt cx="6667500" cy="6667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" y="642938"/>
            <a:ext cx="3571875" cy="400050"/>
            <a:chOff x="0" y="0"/>
            <a:chExt cx="4762500" cy="533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76250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66" r="0" b="-29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812" y="2228069"/>
            <a:ext cx="5043488" cy="871538"/>
            <a:chOff x="0" y="0"/>
            <a:chExt cx="6724650" cy="1162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9" r="0" b="-81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2950" y="5842025"/>
            <a:ext cx="5043488" cy="871538"/>
            <a:chOff x="0" y="0"/>
            <a:chExt cx="6724650" cy="1162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9" r="0" b="-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439344"/>
            <a:ext cx="5043488" cy="871538"/>
            <a:chOff x="0" y="0"/>
            <a:chExt cx="6724650" cy="1162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9" r="0" b="-81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42950" y="7056463"/>
            <a:ext cx="5043488" cy="871538"/>
            <a:chOff x="0" y="0"/>
            <a:chExt cx="6724650" cy="1162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9" r="0" b="-81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42950" y="4653782"/>
            <a:ext cx="5043488" cy="871538"/>
            <a:chOff x="0" y="0"/>
            <a:chExt cx="6724650" cy="1162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9" r="0" b="-81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8242325"/>
            <a:ext cx="5043488" cy="871538"/>
            <a:chOff x="0" y="0"/>
            <a:chExt cx="6724650" cy="1162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7246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162050"/>
                  </a:lnTo>
                  <a:lnTo>
                    <a:pt x="0" y="116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9" r="0" b="-81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5838" y="750094"/>
            <a:ext cx="207169" cy="185738"/>
            <a:chOff x="0" y="0"/>
            <a:chExt cx="276225" cy="2476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76225" cy="247650"/>
            </a:xfrm>
            <a:custGeom>
              <a:avLst/>
              <a:gdLst/>
              <a:ahLst/>
              <a:cxnLst/>
              <a:rect r="r" b="b" t="t" l="l"/>
              <a:pathLst>
                <a:path h="247650" w="276225">
                  <a:moveTo>
                    <a:pt x="0" y="0"/>
                  </a:moveTo>
                  <a:lnTo>
                    <a:pt x="276225" y="0"/>
                  </a:lnTo>
                  <a:lnTo>
                    <a:pt x="276225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51" r="0" b="-205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446361" y="2199087"/>
            <a:ext cx="11287134" cy="6914776"/>
          </a:xfrm>
          <a:custGeom>
            <a:avLst/>
            <a:gdLst/>
            <a:ahLst/>
            <a:cxnLst/>
            <a:rect r="r" b="b" t="t" l="l"/>
            <a:pathLst>
              <a:path h="6914776" w="11287134">
                <a:moveTo>
                  <a:pt x="0" y="0"/>
                </a:moveTo>
                <a:lnTo>
                  <a:pt x="11287134" y="0"/>
                </a:lnTo>
                <a:lnTo>
                  <a:pt x="11287134" y="6914776"/>
                </a:lnTo>
                <a:lnTo>
                  <a:pt x="0" y="69147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85812" y="1166812"/>
            <a:ext cx="17502188" cy="60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Successfully Completed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5838" y="2441600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ORGANIZATION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5838" y="2654313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Codec Technologies Pvt. Ltd.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5838" y="5972994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DESIGNATION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5838" y="6301607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Artificial Intelligence Intern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562350"/>
            <a:ext cx="82946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DURATION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775100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45 Days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5838" y="7246963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INTERNSHIP PERIOD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5838" y="7566050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17 July 2026 – 31 August 2026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4846663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MODE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5838" y="5160988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Pan India, Hybrid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5838" y="8375675"/>
            <a:ext cx="4557712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REPORTING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5838" y="8668569"/>
            <a:ext cx="45577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Assigned Project Head(s)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00662" y="4900612"/>
            <a:ext cx="7686675" cy="2771775"/>
            <a:chOff x="0" y="0"/>
            <a:chExt cx="10248900" cy="36957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2489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10248900">
                  <a:moveTo>
                    <a:pt x="0" y="0"/>
                  </a:moveTo>
                  <a:lnTo>
                    <a:pt x="10248900" y="0"/>
                  </a:lnTo>
                  <a:lnTo>
                    <a:pt x="1024890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73704" y="2586037"/>
            <a:ext cx="474059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0669" y="3919537"/>
            <a:ext cx="758666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Artificial Intelligence &amp; Machine Learning Internship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3591" y="5324475"/>
            <a:ext cx="654081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Shubham Mishra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29325" y="57721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Degree: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B.Tech – Computer Science &amp;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29325" y="61150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University: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IILM University, Greater Noida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29325" y="64579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Internship: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Codec Technologies Pvt. Ltd.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29325" y="6800850"/>
            <a:ext cx="6229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687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Project:</a:t>
            </a: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Twitter Sentiment Analysis Using Logistic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DAHUoCjJNvs</dc:identifier>
  <dcterms:modified xsi:type="dcterms:W3CDTF">2011-08-01T06:04:30Z</dcterms:modified>
  <cp:revision>1</cp:revision>
  <dc:title>Internship Report - Twitter Sentiment Analysis.pptx</dc:title>
</cp:coreProperties>
</file>